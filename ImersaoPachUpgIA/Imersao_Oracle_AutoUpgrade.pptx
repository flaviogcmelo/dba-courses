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o Rios" userId="7bd62191c8626ab8" providerId="LiveId" clId="{57E6B03D-79E7-4371-8EBA-4ABE54810494}"/>
    <pc:docChg chg="modSld">
      <pc:chgData name="Christiano Rios" userId="7bd62191c8626ab8" providerId="LiveId" clId="{57E6B03D-79E7-4371-8EBA-4ABE54810494}" dt="2026-07-17T19:29:08.063" v="127" actId="20577"/>
      <pc:docMkLst>
        <pc:docMk/>
      </pc:docMkLst>
      <pc:sldChg chg="modSp mod">
        <pc:chgData name="Christiano Rios" userId="7bd62191c8626ab8" providerId="LiveId" clId="{57E6B03D-79E7-4371-8EBA-4ABE54810494}" dt="2026-07-17T19:29:08.063" v="127" actId="20577"/>
        <pc:sldMkLst>
          <pc:docMk/>
          <pc:sldMk cId="3800550031" sldId="256"/>
        </pc:sldMkLst>
        <pc:spChg chg="mod">
          <ac:chgData name="Christiano Rios" userId="7bd62191c8626ab8" providerId="LiveId" clId="{57E6B03D-79E7-4371-8EBA-4ABE54810494}" dt="2026-07-17T19:29:08.063" v="127" actId="20577"/>
          <ac:spMkLst>
            <pc:docMk/>
            <pc:sldMk cId="3800550031" sldId="256"/>
            <ac:spMk id="10" creationId="{814FF136-0CD7-7456-2E9B-9A352EA001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D6AA5-13BA-F937-0483-B3CDADFCA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AAF337-B9A8-F612-1507-688812542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1C3BC5-165C-1334-191E-C4AD8946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6A9234-D7CC-724D-34E7-2D952632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B413B-2E86-58D0-735A-07F11F9C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830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44AFB-68CA-9CC5-322B-633B9135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3DD3A-75D4-150B-B6AA-9DD8792BC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D0445C-E726-3DAB-6EDB-68B7D290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57002-4DDF-6D64-69D3-3FB034E4B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9B5155-538C-8120-64FC-CE5EBE22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13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561BB-8299-381E-E165-4383EFD1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DC0961-F7AB-B73F-38E8-BB2355217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EB0A46-46BA-01E3-958D-01AA78021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387DB4-5C34-28F6-DE72-DD428B0F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1B5607-FECD-DF65-6C56-D19077BD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86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94807-69A2-AD5F-1615-F8767BF1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F6A1ED-A111-2D24-785B-88AD078DB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E0BEA06-2538-7566-C501-CB5A21CED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65B5DB-8FE0-5732-9164-363CB371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6D182A-E9A1-2F32-F636-05384838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9D2120-E947-A085-21B0-7C787E8C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49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42CFE-2B03-E9B4-B504-D267C153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FF6F5C-B3B8-C5FD-8230-188DAF976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648957-08F8-86AF-C669-EF30CB689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054FD7-82F2-42B7-E3BD-567094F55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86256EE-F15E-5F8B-9FA2-D5B15F588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EE48C08-E6EE-9F0F-0D86-2D3BC619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85505F-7DCC-53EB-0F4B-65F30807A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196DF52-B8D0-7FEE-8119-F68819EB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30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D0BCD-4ED2-43E8-3EF4-50755522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4640B5-0CB9-9A98-10CB-9B2A19C5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41E8B0B-0115-5A4F-D4B3-E55308B4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97022-9624-FC7D-65E3-4E2D7EF4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1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ED60BBE-3046-6854-9D2D-EC09288C4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735FDC-9C51-8171-F746-56F1C31E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B155B9-689B-9052-4C11-6A79147D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51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DF9E1-3380-C977-AED2-52D2103D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C1FC26-0A96-73C7-35EA-DD2CBAF3A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74212D-7709-541B-1470-D2177546F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9F8D91-5C77-2183-8F65-8CC03741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E76B68-D176-3666-8174-DB552876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E6087B-7EC5-3F2A-29B1-D4C690EE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07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679C1-596E-2D49-209F-170075EC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13B147-92BB-3811-0CE5-F72952308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6409A7-C219-BE19-C44D-81508218D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939D77-352D-8790-4B0C-381B7292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0E8924-C7A3-5C4D-6A87-AF139F1D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B6031A-2413-128F-C1A8-CC3853DE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59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69FB3-4A0F-82AD-909B-59F848EC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62EA72-4FCC-989F-207B-F83E6AE19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442B03-CAD4-8F7D-2382-0D7D82F98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54A4D3-50EA-1223-CAE6-B1180F5F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4045DF-00F0-F300-AB1E-908F9E7C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37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66BC13-B4F7-6EF1-2A8D-93AA124CAF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25A04C-536F-5FB3-D1DE-5AA6F28F3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8E451-A2FE-EBFF-186E-A508B8D1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4DDB06-C8E6-BA0D-B45B-2C08C78A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659CA0-181C-8F6A-C448-F764D80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476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A2EAA51-C523-755F-89A9-048F9F37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AC12D9-F70D-ACC7-6E17-69F9F8872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BE7F45-18FD-A429-A8AD-30DB4D012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A4A50-F55B-4CA8-82E4-D58782F669F4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64E423-F23C-992F-323B-E82D3D4D6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F5EA04-5E6D-0892-49F0-9CDF12EEE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64160-AA04-4598-86D3-19DEA63BD3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37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B5DCE7-BF68-5803-FC37-3749409153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071B655-13C2-50A2-BECA-5AD99BF291C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F24309B-1F42-CF8E-645A-A76675F3CB1B}"/>
              </a:ext>
            </a:extLst>
          </p:cNvPr>
          <p:cNvSpPr/>
          <p:nvPr/>
        </p:nvSpPr>
        <p:spPr>
          <a:xfrm>
            <a:off x="8636000" y="1016000"/>
            <a:ext cx="635000" cy="4826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44528BB-73A5-6647-DDFA-7119F79E2778}"/>
              </a:ext>
            </a:extLst>
          </p:cNvPr>
          <p:cNvSpPr/>
          <p:nvPr/>
        </p:nvSpPr>
        <p:spPr>
          <a:xfrm>
            <a:off x="9461500" y="1778000"/>
            <a:ext cx="635000" cy="4064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5A8562B-FAE2-5850-BB61-BA89E3962ED9}"/>
              </a:ext>
            </a:extLst>
          </p:cNvPr>
          <p:cNvSpPr/>
          <p:nvPr/>
        </p:nvSpPr>
        <p:spPr>
          <a:xfrm>
            <a:off x="10287000" y="635000"/>
            <a:ext cx="635000" cy="5207000"/>
          </a:xfrm>
          <a:prstGeom prst="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B66E56-ED17-792E-14BF-C15130D5D8A2}"/>
              </a:ext>
            </a:extLst>
          </p:cNvPr>
          <p:cNvSpPr txBox="1"/>
          <p:nvPr/>
        </p:nvSpPr>
        <p:spPr>
          <a:xfrm>
            <a:off x="762000" y="1524000"/>
            <a:ext cx="736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000" b="1">
                <a:solidFill>
                  <a:srgbClr val="EA580C"/>
                </a:solidFill>
                <a:latin typeface="Segoe UI" panose="020B0502040204020203" pitchFamily="34" charset="0"/>
              </a:rPr>
              <a:t>IMERSAO ORACLE AUTOUPGRADE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223C27-9B22-3F0A-FED0-6ECFE76A4DA9}"/>
              </a:ext>
            </a:extLst>
          </p:cNvPr>
          <p:cNvSpPr txBox="1"/>
          <p:nvPr/>
        </p:nvSpPr>
        <p:spPr>
          <a:xfrm>
            <a:off x="762000" y="2032000"/>
            <a:ext cx="7366000" cy="12618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3800" b="1">
                <a:solidFill>
                  <a:srgbClr val="FFFFFF"/>
                </a:solidFill>
                <a:latin typeface="Segoe UI" panose="020B0502040204020203" pitchFamily="34" charset="0"/>
              </a:rPr>
              <a:t>A Jornada de Modernizacao de Bancos de Dados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0D163ED-53CE-F8CF-7FCA-500FA832A332}"/>
              </a:ext>
            </a:extLst>
          </p:cNvPr>
          <p:cNvSpPr txBox="1"/>
          <p:nvPr/>
        </p:nvSpPr>
        <p:spPr>
          <a:xfrm>
            <a:off x="762000" y="3683000"/>
            <a:ext cx="736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>
                <a:solidFill>
                  <a:srgbClr val="94A3B8"/>
                </a:solidFill>
                <a:latin typeface="Segoe UI" panose="020B0502040204020203" pitchFamily="34" charset="0"/>
              </a:rPr>
              <a:t>Do Servidor Linux Vazio ao Oracle Multitenant 23ai com 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4FF136-0CD7-7456-2E9B-9A352EA001FE}"/>
              </a:ext>
            </a:extLst>
          </p:cNvPr>
          <p:cNvSpPr txBox="1"/>
          <p:nvPr/>
        </p:nvSpPr>
        <p:spPr>
          <a:xfrm>
            <a:off x="635000" y="5565001"/>
            <a:ext cx="736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200" dirty="0">
                <a:solidFill>
                  <a:srgbClr val="64748B"/>
                </a:solidFill>
                <a:latin typeface="Segoe UI" panose="020B0502040204020203" pitchFamily="34" charset="0"/>
              </a:rPr>
              <a:t>Imersão Oracle com </a:t>
            </a:r>
            <a:r>
              <a:rPr lang="pt-BR" sz="1200" dirty="0" err="1">
                <a:solidFill>
                  <a:srgbClr val="64748B"/>
                </a:solidFill>
                <a:latin typeface="Segoe UI" panose="020B0502040204020203" pitchFamily="34" charset="0"/>
              </a:rPr>
              <a:t>Autoupgrade</a:t>
            </a:r>
            <a:r>
              <a:rPr lang="pt-BR" sz="1200" dirty="0">
                <a:solidFill>
                  <a:srgbClr val="64748B"/>
                </a:solidFill>
                <a:latin typeface="Segoe UI" panose="020B0502040204020203" pitchFamily="34" charset="0"/>
              </a:rPr>
              <a:t> - DBAOCM</a:t>
            </a:r>
          </a:p>
        </p:txBody>
      </p:sp>
    </p:spTree>
    <p:extLst>
      <p:ext uri="{BB962C8B-B14F-4D97-AF65-F5344CB8AC3E}">
        <p14:creationId xmlns:p14="http://schemas.microsoft.com/office/powerpoint/2010/main" val="380055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0CD4ECF-B516-6FC6-303F-09842C4E42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55D8CB9-A9D2-8C7F-984B-796BC92C501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E8DA17-5FBC-0042-B79F-29A3CBC02F59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2400" b="1">
                <a:solidFill>
                  <a:srgbClr val="1E3A8A"/>
                </a:solidFill>
                <a:latin typeface="Segoe UI" panose="020B0502040204020203" pitchFamily="34" charset="0"/>
              </a:rPr>
              <a:t>A Era da IA e o Papel do DBA Moderno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76A3C05-ED0F-E4BB-2ED4-589C23518DD5}"/>
              </a:ext>
            </a:extLst>
          </p:cNvPr>
          <p:cNvSpPr/>
          <p:nvPr/>
        </p:nvSpPr>
        <p:spPr>
          <a:xfrm>
            <a:off x="508000" y="1079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993AB7-2135-69B2-7DD2-EF0D416C64CF}"/>
              </a:ext>
            </a:extLst>
          </p:cNvPr>
          <p:cNvSpPr txBox="1"/>
          <p:nvPr/>
        </p:nvSpPr>
        <p:spPr>
          <a:xfrm>
            <a:off x="508000" y="6477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94A3B8"/>
                </a:solidFill>
                <a:latin typeface="Segoe UI" panose="020B0502040204020203" pitchFamily="34" charset="0"/>
              </a:rPr>
              <a:t>Imersao Oracle AutoUpgrade | Do Zero ao Multitenant 23ai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40DBC16-4178-0EAA-F6C4-8373D7A01F53}"/>
              </a:ext>
            </a:extLst>
          </p:cNvPr>
          <p:cNvSpPr/>
          <p:nvPr/>
        </p:nvSpPr>
        <p:spPr>
          <a:xfrm>
            <a:off x="635000" y="1524000"/>
            <a:ext cx="5207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45A5AC7-C795-07E0-27E8-6256C48AA2FD}"/>
              </a:ext>
            </a:extLst>
          </p:cNvPr>
          <p:cNvSpPr/>
          <p:nvPr/>
        </p:nvSpPr>
        <p:spPr>
          <a:xfrm>
            <a:off x="635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FF97300-C937-40C6-CE0A-3B3D9BD1D5AC}"/>
              </a:ext>
            </a:extLst>
          </p:cNvPr>
          <p:cNvSpPr txBox="1"/>
          <p:nvPr/>
        </p:nvSpPr>
        <p:spPr>
          <a:xfrm>
            <a:off x="825500" y="1714500"/>
            <a:ext cx="482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O DBA do Futuro: Antenado e Atualizado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AD47BF-E133-1534-680A-BFFBEB42C6E2}"/>
              </a:ext>
            </a:extLst>
          </p:cNvPr>
          <p:cNvSpPr txBox="1"/>
          <p:nvPr/>
        </p:nvSpPr>
        <p:spPr>
          <a:xfrm>
            <a:off x="889000" y="2159000"/>
            <a:ext cx="4699000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pt-BR" sz="1300">
                <a:solidFill>
                  <a:srgbClr val="475569"/>
                </a:solidFill>
                <a:latin typeface="Segoe UI" panose="020B0502040204020203" pitchFamily="34" charset="0"/>
              </a:rPr>
              <a:t>Evolucao do Mercado: A transicao acelerada do 19c para a arquitetura 23ai exige que o DBA domine ferramentas modernas de ciclo de vida.</a:t>
            </a:r>
          </a:p>
          <a:p>
            <a:pPr indent="-285750">
              <a:buChar char="•"/>
            </a:pPr>
            <a:r>
              <a:rPr lang="pt-BR" sz="1300">
                <a:solidFill>
                  <a:srgbClr val="475569"/>
                </a:solidFill>
                <a:latin typeface="Segoe UI" panose="020B0502040204020203" pitchFamily="34" charset="0"/>
              </a:rPr>
              <a:t>Inteligencia Artificial na Operacao: A IA atua como um copiloto tecnico, automatizando scripts, gerando configuracoes e prevendo erros.</a:t>
            </a:r>
          </a:p>
          <a:p>
            <a:pPr indent="-285750">
              <a:buChar char="•"/>
            </a:pPr>
            <a:r>
              <a:rPr lang="pt-BR" sz="1300">
                <a:solidFill>
                  <a:srgbClr val="475569"/>
                </a:solidFill>
                <a:latin typeface="Segoe UI" panose="020B0502040204020203" pitchFamily="34" charset="0"/>
              </a:rPr>
              <a:t>Foco Estrategico: A reducao drastica em tarefas operacionais permite ao DBA focar em performance, arquitetura de dados e seguranca.</a:t>
            </a:r>
          </a:p>
          <a:p>
            <a:pPr indent="-285750">
              <a:buChar char="•"/>
            </a:pPr>
            <a:r>
              <a:rPr lang="pt-BR" sz="1300">
                <a:solidFill>
                  <a:srgbClr val="475569"/>
                </a:solidFill>
                <a:latin typeface="Segoe UI" panose="020B0502040204020203" pitchFamily="34" charset="0"/>
              </a:rPr>
              <a:t>Diferencial de Carreira: Profissionais que dominam automacao com IA ganham escala e se destacam liderando projetos de migracao complexos.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EB722D-BA27-6A74-633C-8B992ED2FF6E}"/>
              </a:ext>
            </a:extLst>
          </p:cNvPr>
          <p:cNvSpPr/>
          <p:nvPr/>
        </p:nvSpPr>
        <p:spPr>
          <a:xfrm>
            <a:off x="6350000" y="1524000"/>
            <a:ext cx="5207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CD2BBC5-F8E1-546E-EBBD-4E38322D76F2}"/>
              </a:ext>
            </a:extLst>
          </p:cNvPr>
          <p:cNvSpPr/>
          <p:nvPr/>
        </p:nvSpPr>
        <p:spPr>
          <a:xfrm>
            <a:off x="6350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584BA1-EC64-FFB7-33F3-58812D4F2254}"/>
              </a:ext>
            </a:extLst>
          </p:cNvPr>
          <p:cNvSpPr txBox="1"/>
          <p:nvPr/>
        </p:nvSpPr>
        <p:spPr>
          <a:xfrm>
            <a:off x="6540500" y="1714500"/>
            <a:ext cx="482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Aumento de Produtividade em Acao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F765AE8-3B41-C803-09B9-EAA3AD227B7D}"/>
              </a:ext>
            </a:extLst>
          </p:cNvPr>
          <p:cNvSpPr txBox="1"/>
          <p:nvPr/>
        </p:nvSpPr>
        <p:spPr>
          <a:xfrm>
            <a:off x="6604000" y="2159000"/>
            <a:ext cx="4699000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buChar char="•"/>
            </a:pPr>
            <a:r>
              <a:rPr lang="pt-BR" sz="1300">
                <a:solidFill>
                  <a:srgbClr val="475569"/>
                </a:solidFill>
                <a:latin typeface="Segoe UI" panose="020B0502040204020203" pitchFamily="34" charset="0"/>
              </a:rPr>
              <a:t>Automacao Inteira: Geracao rapida de arquivos de configuracao do AutoUpgrade e logs customizados reduzem o tempo de setup inicial.</a:t>
            </a:r>
          </a:p>
          <a:p>
            <a:pPr indent="-285750">
              <a:buChar char="•"/>
            </a:pPr>
            <a:r>
              <a:rPr lang="pt-BR" sz="1300">
                <a:solidFill>
                  <a:srgbClr val="475569"/>
                </a:solidFill>
                <a:latin typeface="Segoe UI" panose="020B0502040204020203" pitchFamily="34" charset="0"/>
              </a:rPr>
              <a:t>Validacao Pratica de Logs: Utilizacao da IA para analisar o progresso de jobs de upgrade e patching, diagnosticando warnings ou falhas.</a:t>
            </a:r>
          </a:p>
          <a:p>
            <a:pPr indent="-285750">
              <a:buChar char="•"/>
            </a:pPr>
            <a:r>
              <a:rPr lang="pt-BR" sz="1300">
                <a:solidFill>
                  <a:srgbClr val="475569"/>
                </a:solidFill>
                <a:latin typeface="Segoe UI" panose="020B0502040204020203" pitchFamily="34" charset="0"/>
              </a:rPr>
              <a:t>Mitigacao de Erros Humanos: Comandos padronizados e scripts revisados pela IA minimizam falhas em comandos manuais repetitivos.</a:t>
            </a:r>
          </a:p>
          <a:p>
            <a:pPr indent="-285750">
              <a:buChar char="•"/>
            </a:pPr>
            <a:r>
              <a:rPr lang="pt-BR" sz="1300">
                <a:solidFill>
                  <a:srgbClr val="475569"/>
                </a:solidFill>
                <a:latin typeface="Segoe UI" panose="020B0502040204020203" pitchFamily="34" charset="0"/>
              </a:rPr>
              <a:t>Execucao de Projetos Acelerada: Processos de transicao complexos que levavam semanas sao comprimidos em poucas horas de laboratorio.</a:t>
            </a:r>
          </a:p>
        </p:txBody>
      </p:sp>
    </p:spTree>
    <p:extLst>
      <p:ext uri="{BB962C8B-B14F-4D97-AF65-F5344CB8AC3E}">
        <p14:creationId xmlns:p14="http://schemas.microsoft.com/office/powerpoint/2010/main" val="99422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9F0F084-5776-33E8-E354-4E367DAD44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DE62D3-3BCA-D93E-796A-D0F22601ABA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3A38D9-EB82-0642-710A-DE5B756A1C36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2400" b="1">
                <a:solidFill>
                  <a:srgbClr val="1E3A8A"/>
                </a:solidFill>
                <a:latin typeface="Segoe UI" panose="020B0502040204020203" pitchFamily="34" charset="0"/>
              </a:rPr>
              <a:t>Objetivo da Imersao: A Jornada de Modernizacao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C99789-3224-182A-F1E0-F0138ED38376}"/>
              </a:ext>
            </a:extLst>
          </p:cNvPr>
          <p:cNvSpPr/>
          <p:nvPr/>
        </p:nvSpPr>
        <p:spPr>
          <a:xfrm>
            <a:off x="508000" y="1079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72AD82-8B40-132C-9DF2-C600B2238E70}"/>
              </a:ext>
            </a:extLst>
          </p:cNvPr>
          <p:cNvSpPr txBox="1"/>
          <p:nvPr/>
        </p:nvSpPr>
        <p:spPr>
          <a:xfrm>
            <a:off x="508000" y="6477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94A3B8"/>
                </a:solidFill>
                <a:latin typeface="Segoe UI" panose="020B0502040204020203" pitchFamily="34" charset="0"/>
              </a:rPr>
              <a:t>Imersao Oracle AutoUpgrade | Do Zero ao Multitenant 23ai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B767AF-A0AE-43C2-F238-F0229DE136BC}"/>
              </a:ext>
            </a:extLst>
          </p:cNvPr>
          <p:cNvSpPr txBox="1"/>
          <p:nvPr/>
        </p:nvSpPr>
        <p:spPr>
          <a:xfrm>
            <a:off x="508000" y="12700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400">
                <a:solidFill>
                  <a:srgbClr val="1E293B"/>
                </a:solidFill>
                <a:latin typeface="Segoe UI" panose="020B0502040204020203" pitchFamily="34" charset="0"/>
              </a:rPr>
              <a:t>O grande objetivo deste projeto e vivenciar a modernizacao real de infraestrutura de banco de dados, partindo do zero absoluto ate a versao mais recente recomendada pela Oracle.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931C7D5-576B-393D-30EC-7DFBEB4A2A7F}"/>
              </a:ext>
            </a:extLst>
          </p:cNvPr>
          <p:cNvSpPr/>
          <p:nvPr/>
        </p:nvSpPr>
        <p:spPr>
          <a:xfrm>
            <a:off x="1270000" y="2032000"/>
            <a:ext cx="9652000" cy="254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C6433C2-35B0-FDCF-CFC5-7180BC278365}"/>
              </a:ext>
            </a:extLst>
          </p:cNvPr>
          <p:cNvSpPr/>
          <p:nvPr/>
        </p:nvSpPr>
        <p:spPr>
          <a:xfrm>
            <a:off x="508000" y="2413000"/>
            <a:ext cx="2540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566CC8B-41D5-423F-934E-5853F47CBFA5}"/>
              </a:ext>
            </a:extLst>
          </p:cNvPr>
          <p:cNvSpPr/>
          <p:nvPr/>
        </p:nvSpPr>
        <p:spPr>
          <a:xfrm>
            <a:off x="1587500" y="1841500"/>
            <a:ext cx="381000" cy="3810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3A73150-C3DD-9B07-EA24-532CFC7A2537}"/>
              </a:ext>
            </a:extLst>
          </p:cNvPr>
          <p:cNvSpPr txBox="1"/>
          <p:nvPr/>
        </p:nvSpPr>
        <p:spPr>
          <a:xfrm>
            <a:off x="635000" y="2603500"/>
            <a:ext cx="228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500" b="1">
                <a:solidFill>
                  <a:srgbClr val="1E3A8A"/>
                </a:solidFill>
              </a:rPr>
              <a:t>Linux Limpo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DBD1E4-4A5A-B600-D046-F0374E048B21}"/>
              </a:ext>
            </a:extLst>
          </p:cNvPr>
          <p:cNvSpPr txBox="1"/>
          <p:nvPr/>
        </p:nvSpPr>
        <p:spPr>
          <a:xfrm>
            <a:off x="635000" y="3238500"/>
            <a:ext cx="2286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Servidor Oracle Linux 8.10 configurado do zero.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Sem software Oracle instalado.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Apenas SSH e rede prontos.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B79918A-43AA-4527-FC2E-93B28849FA0F}"/>
              </a:ext>
            </a:extLst>
          </p:cNvPr>
          <p:cNvSpPr/>
          <p:nvPr/>
        </p:nvSpPr>
        <p:spPr>
          <a:xfrm>
            <a:off x="3365500" y="2413000"/>
            <a:ext cx="2540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AFD500-4067-5981-A2B5-5043D3739631}"/>
              </a:ext>
            </a:extLst>
          </p:cNvPr>
          <p:cNvSpPr/>
          <p:nvPr/>
        </p:nvSpPr>
        <p:spPr>
          <a:xfrm>
            <a:off x="4445000" y="1841500"/>
            <a:ext cx="381000" cy="3810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B097C0E-3ADC-76F4-E2CD-DD45A3BA3D5E}"/>
              </a:ext>
            </a:extLst>
          </p:cNvPr>
          <p:cNvSpPr txBox="1"/>
          <p:nvPr/>
        </p:nvSpPr>
        <p:spPr>
          <a:xfrm>
            <a:off x="3492500" y="2603500"/>
            <a:ext cx="228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500" b="1">
                <a:solidFill>
                  <a:srgbClr val="1E3A8A"/>
                </a:solidFill>
              </a:rPr>
              <a:t>Oracle 19c Base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3677D1-E5F3-79B4-BBAF-3AD531F19374}"/>
              </a:ext>
            </a:extLst>
          </p:cNvPr>
          <p:cNvSpPr txBox="1"/>
          <p:nvPr/>
        </p:nvSpPr>
        <p:spPr>
          <a:xfrm>
            <a:off x="3492500" y="3238500"/>
            <a:ext cx="228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Instalacao silenciosa da versao base 19.3.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Criacao do banco de dados ORCL non-CDB.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Aplicacao do ultimo RU (Out-of-Place).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967759C-9008-7F54-21B6-1825E838B243}"/>
              </a:ext>
            </a:extLst>
          </p:cNvPr>
          <p:cNvSpPr/>
          <p:nvPr/>
        </p:nvSpPr>
        <p:spPr>
          <a:xfrm>
            <a:off x="6223000" y="2413000"/>
            <a:ext cx="2540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731233E-7921-9E68-DF45-633BCDA93A56}"/>
              </a:ext>
            </a:extLst>
          </p:cNvPr>
          <p:cNvSpPr/>
          <p:nvPr/>
        </p:nvSpPr>
        <p:spPr>
          <a:xfrm>
            <a:off x="7302500" y="1841500"/>
            <a:ext cx="381000" cy="381000"/>
          </a:xfrm>
          <a:prstGeom prst="ellipse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A6ACF5C-B751-F947-B7CD-5DF4A6A4CEDB}"/>
              </a:ext>
            </a:extLst>
          </p:cNvPr>
          <p:cNvSpPr txBox="1"/>
          <p:nvPr/>
        </p:nvSpPr>
        <p:spPr>
          <a:xfrm>
            <a:off x="6350000" y="2603500"/>
            <a:ext cx="228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500" b="1">
                <a:solidFill>
                  <a:srgbClr val="1E3A8A"/>
                </a:solidFill>
              </a:rPr>
              <a:t>CDB e PDB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1FA2B1A-9984-641E-3729-EFD187AEB19A}"/>
              </a:ext>
            </a:extLst>
          </p:cNvPr>
          <p:cNvSpPr txBox="1"/>
          <p:nvPr/>
        </p:nvSpPr>
        <p:spPr>
          <a:xfrm>
            <a:off x="6350000" y="3238500"/>
            <a:ext cx="228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Transicao da arquitetura legada non-CDB.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Conversao automatizada pelo AutoUpgrade.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Plug do banco ORCL como PDB em novo CDB.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238D7C3-E68C-DCE2-C4A3-557B1737A6B8}"/>
              </a:ext>
            </a:extLst>
          </p:cNvPr>
          <p:cNvSpPr/>
          <p:nvPr/>
        </p:nvSpPr>
        <p:spPr>
          <a:xfrm>
            <a:off x="9080500" y="2413000"/>
            <a:ext cx="2540000" cy="342900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ABC2B4E-6060-D287-91A6-F2E6B76A71A9}"/>
              </a:ext>
            </a:extLst>
          </p:cNvPr>
          <p:cNvSpPr/>
          <p:nvPr/>
        </p:nvSpPr>
        <p:spPr>
          <a:xfrm>
            <a:off x="10160000" y="1841500"/>
            <a:ext cx="381000" cy="3810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AAA3F11-2059-E8FF-1003-F78AF0B3386E}"/>
              </a:ext>
            </a:extLst>
          </p:cNvPr>
          <p:cNvSpPr txBox="1"/>
          <p:nvPr/>
        </p:nvSpPr>
        <p:spPr>
          <a:xfrm>
            <a:off x="9207500" y="2603500"/>
            <a:ext cx="228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500" b="1">
                <a:solidFill>
                  <a:srgbClr val="EA580C"/>
                </a:solidFill>
              </a:rPr>
              <a:t>Oracle 23ai Patched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3DC1728-B6D9-4EE1-73F2-5594128E83B2}"/>
              </a:ext>
            </a:extLst>
          </p:cNvPr>
          <p:cNvSpPr txBox="1"/>
          <p:nvPr/>
        </p:nvSpPr>
        <p:spPr>
          <a:xfrm>
            <a:off x="9207500" y="3238500"/>
            <a:ext cx="228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7C2D12"/>
                </a:solidFill>
                <a:latin typeface="Segoe UI" panose="020B0502040204020203" pitchFamily="34" charset="0"/>
              </a:rPr>
              <a:t>Upgrade maior de versao de 19c para 23ai.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7C2D12"/>
                </a:solidFill>
                <a:latin typeface="Segoe UI" panose="020B0502040204020203" pitchFamily="34" charset="0"/>
              </a:rPr>
              <a:t>Aplicacao posterior do RU 23.26.2.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7C2D12"/>
                </a:solidFill>
                <a:latin typeface="Segoe UI" panose="020B0502040204020203" pitchFamily="34" charset="0"/>
              </a:rPr>
              <a:t>Ambiente final 100% atualizado e testado.</a:t>
            </a:r>
          </a:p>
        </p:txBody>
      </p:sp>
    </p:spTree>
    <p:extLst>
      <p:ext uri="{BB962C8B-B14F-4D97-AF65-F5344CB8AC3E}">
        <p14:creationId xmlns:p14="http://schemas.microsoft.com/office/powerpoint/2010/main" val="358793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7AFA25E-6F09-10B6-5F20-A8E268E76C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158717-79C7-1AEE-2BCE-AEB4EF9E0DD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3FF1E8-0DF4-E6D3-3ACF-1D640268BAD4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2400" b="1">
                <a:solidFill>
                  <a:srgbClr val="1E3A8A"/>
                </a:solidFill>
                <a:latin typeface="Segoe UI" panose="020B0502040204020203" pitchFamily="34" charset="0"/>
              </a:rPr>
              <a:t>Cronograma e Atividades - Dia 1: Base e Patching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2B2B504-30CC-6156-85A9-B0AE6881EDF6}"/>
              </a:ext>
            </a:extLst>
          </p:cNvPr>
          <p:cNvSpPr/>
          <p:nvPr/>
        </p:nvSpPr>
        <p:spPr>
          <a:xfrm>
            <a:off x="508000" y="1079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6F2140-0125-A955-233B-8A837904F71C}"/>
              </a:ext>
            </a:extLst>
          </p:cNvPr>
          <p:cNvSpPr txBox="1"/>
          <p:nvPr/>
        </p:nvSpPr>
        <p:spPr>
          <a:xfrm>
            <a:off x="508000" y="6477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94A3B8"/>
                </a:solidFill>
                <a:latin typeface="Segoe UI" panose="020B0502040204020203" pitchFamily="34" charset="0"/>
              </a:rPr>
              <a:t>Imersao Oracle AutoUpgrade | Do Zero ao Multitenant 23ai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392CB81-2D03-272D-A61C-4456F73E9266}"/>
              </a:ext>
            </a:extLst>
          </p:cNvPr>
          <p:cNvSpPr/>
          <p:nvPr/>
        </p:nvSpPr>
        <p:spPr>
          <a:xfrm>
            <a:off x="508000" y="1651000"/>
            <a:ext cx="2603500" cy="444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CE2EFB-6E76-A807-DD90-1FCDE657FC3A}"/>
              </a:ext>
            </a:extLst>
          </p:cNvPr>
          <p:cNvSpPr txBox="1"/>
          <p:nvPr/>
        </p:nvSpPr>
        <p:spPr>
          <a:xfrm>
            <a:off x="571500" y="1778000"/>
            <a:ext cx="2476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100" b="1">
                <a:solidFill>
                  <a:srgbClr val="64748B"/>
                </a:solidFill>
              </a:rPr>
              <a:t>ATIVIDADE 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B560C0-EB6C-B2E2-F68A-55750665EE75}"/>
              </a:ext>
            </a:extLst>
          </p:cNvPr>
          <p:cNvSpPr txBox="1"/>
          <p:nvPr/>
        </p:nvSpPr>
        <p:spPr>
          <a:xfrm>
            <a:off x="571500" y="2095500"/>
            <a:ext cx="2476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E3A8A"/>
                </a:solidFill>
              </a:rPr>
              <a:t>OS Prep e Oracle 19c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7A01C6-BB1B-7E7C-27AA-33301F7B2DB7}"/>
              </a:ext>
            </a:extLst>
          </p:cNvPr>
          <p:cNvSpPr txBox="1"/>
          <p:nvPr/>
        </p:nvSpPr>
        <p:spPr>
          <a:xfrm>
            <a:off x="571500" y="2667000"/>
            <a:ext cx="2476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 b="1">
                <a:solidFill>
                  <a:srgbClr val="EA580C"/>
                </a:solidFill>
              </a:rPr>
              <a:t>Duracao: 60 min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E6C6CC7-A6C6-F42B-3316-DF2352299955}"/>
              </a:ext>
            </a:extLst>
          </p:cNvPr>
          <p:cNvSpPr txBox="1"/>
          <p:nvPr/>
        </p:nvSpPr>
        <p:spPr>
          <a:xfrm>
            <a:off x="635000" y="3111500"/>
            <a:ext cx="23495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Preinstall packages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Discos LVM em /u02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RunInstaller silencioso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DBCA do banco ORCL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Config. do Listener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4567FE2-0F53-B6B9-9659-6FA426E340AB}"/>
              </a:ext>
            </a:extLst>
          </p:cNvPr>
          <p:cNvSpPr/>
          <p:nvPr/>
        </p:nvSpPr>
        <p:spPr>
          <a:xfrm>
            <a:off x="3365500" y="1651000"/>
            <a:ext cx="2603500" cy="444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A952DE0-9E78-C233-F256-273ACF9CC474}"/>
              </a:ext>
            </a:extLst>
          </p:cNvPr>
          <p:cNvSpPr txBox="1"/>
          <p:nvPr/>
        </p:nvSpPr>
        <p:spPr>
          <a:xfrm>
            <a:off x="3429000" y="1778000"/>
            <a:ext cx="2476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100" b="1">
                <a:solidFill>
                  <a:srgbClr val="64748B"/>
                </a:solidFill>
              </a:rPr>
              <a:t>ATIVIDADE 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0B2E482-B3FD-5760-0FAE-5C1767FCB705}"/>
              </a:ext>
            </a:extLst>
          </p:cNvPr>
          <p:cNvSpPr txBox="1"/>
          <p:nvPr/>
        </p:nvSpPr>
        <p:spPr>
          <a:xfrm>
            <a:off x="3429000" y="2095500"/>
            <a:ext cx="2476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E3A8A"/>
                </a:solidFill>
              </a:rPr>
              <a:t>Update AutoUpgrade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2D776EB-42CC-CFDF-011D-0ED57E95CA4A}"/>
              </a:ext>
            </a:extLst>
          </p:cNvPr>
          <p:cNvSpPr txBox="1"/>
          <p:nvPr/>
        </p:nvSpPr>
        <p:spPr>
          <a:xfrm>
            <a:off x="3429000" y="2667000"/>
            <a:ext cx="2476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 b="1">
                <a:solidFill>
                  <a:srgbClr val="EA580C"/>
                </a:solidFill>
              </a:rPr>
              <a:t>Duracao: 15 min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F36E476-F84D-7B25-70D6-CA11B52DD7C9}"/>
              </a:ext>
            </a:extLst>
          </p:cNvPr>
          <p:cNvSpPr txBox="1"/>
          <p:nvPr/>
        </p:nvSpPr>
        <p:spPr>
          <a:xfrm>
            <a:off x="3492500" y="3111500"/>
            <a:ext cx="23495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Download da versao 26.x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Wget no endpoint Oracle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Opatch lsinventory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Criacao do arquivo .cfg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Modo -analyze inicial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9E7D696-033F-5FD6-5CAB-F24551C554D4}"/>
              </a:ext>
            </a:extLst>
          </p:cNvPr>
          <p:cNvSpPr/>
          <p:nvPr/>
        </p:nvSpPr>
        <p:spPr>
          <a:xfrm>
            <a:off x="6223000" y="1651000"/>
            <a:ext cx="2603500" cy="444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A213354-CBDD-3EB5-3697-6727C9B5551E}"/>
              </a:ext>
            </a:extLst>
          </p:cNvPr>
          <p:cNvSpPr txBox="1"/>
          <p:nvPr/>
        </p:nvSpPr>
        <p:spPr>
          <a:xfrm>
            <a:off x="6286500" y="1778000"/>
            <a:ext cx="2476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100" b="1">
                <a:solidFill>
                  <a:srgbClr val="64748B"/>
                </a:solidFill>
              </a:rPr>
              <a:t>ATIVIDADE 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F82858E-982F-6842-375F-3C99F5B4E35D}"/>
              </a:ext>
            </a:extLst>
          </p:cNvPr>
          <p:cNvSpPr txBox="1"/>
          <p:nvPr/>
        </p:nvSpPr>
        <p:spPr>
          <a:xfrm>
            <a:off x="6286500" y="2095500"/>
            <a:ext cx="2476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E3A8A"/>
                </a:solidFill>
              </a:rPr>
              <a:t>Novo Oracle Home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EC7D7C8-E9BD-2B4D-76BC-13A1B7774EA2}"/>
              </a:ext>
            </a:extLst>
          </p:cNvPr>
          <p:cNvSpPr txBox="1"/>
          <p:nvPr/>
        </p:nvSpPr>
        <p:spPr>
          <a:xfrm>
            <a:off x="6286500" y="2667000"/>
            <a:ext cx="2476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 b="1">
                <a:solidFill>
                  <a:srgbClr val="EA580C"/>
                </a:solidFill>
              </a:rPr>
              <a:t>Duracao: 25 min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5D6303A-7C02-6A87-8A08-5886A35E74B6}"/>
              </a:ext>
            </a:extLst>
          </p:cNvPr>
          <p:cNvSpPr txBox="1"/>
          <p:nvPr/>
        </p:nvSpPr>
        <p:spPr>
          <a:xfrm>
            <a:off x="6350000" y="3111500"/>
            <a:ext cx="23495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Criacao do home isolado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Extrair Gold Image 19c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Garantia de espaco u01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Execucao de root.sh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Isolamento da producao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A2EB079-CC96-7F1A-A320-F5BFE1F96284}"/>
              </a:ext>
            </a:extLst>
          </p:cNvPr>
          <p:cNvSpPr/>
          <p:nvPr/>
        </p:nvSpPr>
        <p:spPr>
          <a:xfrm>
            <a:off x="9080500" y="1651000"/>
            <a:ext cx="2603500" cy="444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8175050-714F-F101-5484-342863364F9B}"/>
              </a:ext>
            </a:extLst>
          </p:cNvPr>
          <p:cNvSpPr txBox="1"/>
          <p:nvPr/>
        </p:nvSpPr>
        <p:spPr>
          <a:xfrm>
            <a:off x="9144000" y="1778000"/>
            <a:ext cx="2476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100" b="1">
                <a:solidFill>
                  <a:srgbClr val="64748B"/>
                </a:solidFill>
              </a:rPr>
              <a:t>ATIVIDADE 4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6803491-2842-0FF1-26D1-BB185C4A30F2}"/>
              </a:ext>
            </a:extLst>
          </p:cNvPr>
          <p:cNvSpPr txBox="1"/>
          <p:nvPr/>
        </p:nvSpPr>
        <p:spPr>
          <a:xfrm>
            <a:off x="9144000" y="2095500"/>
            <a:ext cx="2476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E3A8A"/>
                </a:solidFill>
              </a:rPr>
              <a:t>Patching e Deploy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6962502-B9FE-8739-8B67-0C95CC6B114C}"/>
              </a:ext>
            </a:extLst>
          </p:cNvPr>
          <p:cNvSpPr txBox="1"/>
          <p:nvPr/>
        </p:nvSpPr>
        <p:spPr>
          <a:xfrm>
            <a:off x="9144000" y="2667000"/>
            <a:ext cx="2476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 b="1">
                <a:solidFill>
                  <a:srgbClr val="EA580C"/>
                </a:solidFill>
              </a:rPr>
              <a:t>Duracao: 40 min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20FEAA9-AB61-AB95-8428-C37C89B16C83}"/>
              </a:ext>
            </a:extLst>
          </p:cNvPr>
          <p:cNvSpPr txBox="1"/>
          <p:nvPr/>
        </p:nvSpPr>
        <p:spPr>
          <a:xfrm>
            <a:off x="9207500" y="3111500"/>
            <a:ext cx="23495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Atualizar OPatch no home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Aplicar Patch RU via zip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Modo deploy do AutoUpgrade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Mudanca automatica home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Datapatch e utlrp rodados</a:t>
            </a:r>
          </a:p>
        </p:txBody>
      </p:sp>
    </p:spTree>
    <p:extLst>
      <p:ext uri="{BB962C8B-B14F-4D97-AF65-F5344CB8AC3E}">
        <p14:creationId xmlns:p14="http://schemas.microsoft.com/office/powerpoint/2010/main" val="1630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796D86A-1A84-A703-83A9-A171123C33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0AEF4F4-3EBC-73E0-9B03-FC8CD4B6147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A4D38E-AE89-45E1-4FCE-1EE8D76D59B5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2400" b="1">
                <a:solidFill>
                  <a:srgbClr val="1E3A8A"/>
                </a:solidFill>
                <a:latin typeface="Segoe UI" panose="020B0502040204020203" pitchFamily="34" charset="0"/>
              </a:rPr>
              <a:t>Cronograma e Atividades - Dia 2: Multitenant e Upgrade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EE8FA1C-7B3C-DC1B-3247-904357D43BB0}"/>
              </a:ext>
            </a:extLst>
          </p:cNvPr>
          <p:cNvSpPr/>
          <p:nvPr/>
        </p:nvSpPr>
        <p:spPr>
          <a:xfrm>
            <a:off x="508000" y="1079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645158-5700-C8FF-28C9-ED845C37FACA}"/>
              </a:ext>
            </a:extLst>
          </p:cNvPr>
          <p:cNvSpPr txBox="1"/>
          <p:nvPr/>
        </p:nvSpPr>
        <p:spPr>
          <a:xfrm>
            <a:off x="508000" y="6477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94A3B8"/>
                </a:solidFill>
                <a:latin typeface="Segoe UI" panose="020B0502040204020203" pitchFamily="34" charset="0"/>
              </a:rPr>
              <a:t>Imersao Oracle AutoUpgrade | Do Zero ao Multitenant 23ai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434765C-6224-5705-6329-D960B24C03A5}"/>
              </a:ext>
            </a:extLst>
          </p:cNvPr>
          <p:cNvSpPr/>
          <p:nvPr/>
        </p:nvSpPr>
        <p:spPr>
          <a:xfrm>
            <a:off x="508000" y="1651000"/>
            <a:ext cx="2603500" cy="444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8A75F6-DAA6-7F77-C837-2D873136F5F0}"/>
              </a:ext>
            </a:extLst>
          </p:cNvPr>
          <p:cNvSpPr txBox="1"/>
          <p:nvPr/>
        </p:nvSpPr>
        <p:spPr>
          <a:xfrm>
            <a:off x="571500" y="1778000"/>
            <a:ext cx="2476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100" b="1">
                <a:solidFill>
                  <a:srgbClr val="64748B"/>
                </a:solidFill>
              </a:rPr>
              <a:t>ATIVIDADE 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18D9F5-4159-1706-8435-46656167E75E}"/>
              </a:ext>
            </a:extLst>
          </p:cNvPr>
          <p:cNvSpPr txBox="1"/>
          <p:nvPr/>
        </p:nvSpPr>
        <p:spPr>
          <a:xfrm>
            <a:off x="571500" y="2095500"/>
            <a:ext cx="2476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E3A8A"/>
                </a:solidFill>
              </a:rPr>
              <a:t>non-CDB para PDB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F45E73-792C-CC4B-53C5-718D086F9E35}"/>
              </a:ext>
            </a:extLst>
          </p:cNvPr>
          <p:cNvSpPr txBox="1"/>
          <p:nvPr/>
        </p:nvSpPr>
        <p:spPr>
          <a:xfrm>
            <a:off x="571500" y="2667000"/>
            <a:ext cx="2476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 b="1">
                <a:solidFill>
                  <a:srgbClr val="EA580C"/>
                </a:solidFill>
              </a:rPr>
              <a:t>Duracao: 35 min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282F41-F02C-2429-C8C5-38566E052D99}"/>
              </a:ext>
            </a:extLst>
          </p:cNvPr>
          <p:cNvSpPr txBox="1"/>
          <p:nvPr/>
        </p:nvSpPr>
        <p:spPr>
          <a:xfrm>
            <a:off x="635000" y="3111500"/>
            <a:ext cx="23495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Criacao do CDB CDBORCL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AutoUpgrade noncdbtopdb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Conversao ORCL em PDB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Migracao do listener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Limpeza de homes antigos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56EAB16-B436-70BC-2FB3-0422EAF1941B}"/>
              </a:ext>
            </a:extLst>
          </p:cNvPr>
          <p:cNvSpPr/>
          <p:nvPr/>
        </p:nvSpPr>
        <p:spPr>
          <a:xfrm>
            <a:off x="3365500" y="1651000"/>
            <a:ext cx="2603500" cy="444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2354B82-921F-8308-D2DF-2F3D686B2616}"/>
              </a:ext>
            </a:extLst>
          </p:cNvPr>
          <p:cNvSpPr txBox="1"/>
          <p:nvPr/>
        </p:nvSpPr>
        <p:spPr>
          <a:xfrm>
            <a:off x="3429000" y="1778000"/>
            <a:ext cx="2476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100" b="1">
                <a:solidFill>
                  <a:srgbClr val="64748B"/>
                </a:solidFill>
              </a:rPr>
              <a:t>ATIVIDADE 6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EA2B5A0-970E-E36B-1503-26D02B51D2E3}"/>
              </a:ext>
            </a:extLst>
          </p:cNvPr>
          <p:cNvSpPr txBox="1"/>
          <p:nvPr/>
        </p:nvSpPr>
        <p:spPr>
          <a:xfrm>
            <a:off x="3429000" y="2095500"/>
            <a:ext cx="2476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E3A8A"/>
                </a:solidFill>
              </a:rPr>
              <a:t>Upgrade para 23ai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56F991A-2814-4562-ED66-2B6940AFC232}"/>
              </a:ext>
            </a:extLst>
          </p:cNvPr>
          <p:cNvSpPr txBox="1"/>
          <p:nvPr/>
        </p:nvSpPr>
        <p:spPr>
          <a:xfrm>
            <a:off x="3429000" y="2667000"/>
            <a:ext cx="2476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 b="1">
                <a:solidFill>
                  <a:srgbClr val="EA580C"/>
                </a:solidFill>
              </a:rPr>
              <a:t>Duracao: 50 min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4383739-64A8-5C9F-ABFA-9F1E6121A500}"/>
              </a:ext>
            </a:extLst>
          </p:cNvPr>
          <p:cNvSpPr txBox="1"/>
          <p:nvPr/>
        </p:nvSpPr>
        <p:spPr>
          <a:xfrm>
            <a:off x="3492500" y="3111500"/>
            <a:ext cx="23495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Instalacao Oracle 23ai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Pre-requisitos de versao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Deploy do upgrade total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Upgrade dicionario 23ai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Guaranteed Restore Point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D0EABD4-ECF9-5A45-B5BF-BA780F2E96F9}"/>
              </a:ext>
            </a:extLst>
          </p:cNvPr>
          <p:cNvSpPr/>
          <p:nvPr/>
        </p:nvSpPr>
        <p:spPr>
          <a:xfrm>
            <a:off x="6223000" y="1651000"/>
            <a:ext cx="2603500" cy="444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DA7000C-DEE4-663A-A084-7D0511F259F1}"/>
              </a:ext>
            </a:extLst>
          </p:cNvPr>
          <p:cNvSpPr txBox="1"/>
          <p:nvPr/>
        </p:nvSpPr>
        <p:spPr>
          <a:xfrm>
            <a:off x="6286500" y="1778000"/>
            <a:ext cx="2476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100" b="1">
                <a:solidFill>
                  <a:srgbClr val="64748B"/>
                </a:solidFill>
              </a:rPr>
              <a:t>ATIVIDADE 7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B018827-F157-D79D-C067-5A5B01D056DF}"/>
              </a:ext>
            </a:extLst>
          </p:cNvPr>
          <p:cNvSpPr txBox="1"/>
          <p:nvPr/>
        </p:nvSpPr>
        <p:spPr>
          <a:xfrm>
            <a:off x="6286500" y="2095500"/>
            <a:ext cx="2476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E3A8A"/>
                </a:solidFill>
              </a:rPr>
              <a:t>Patching 23ai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067045A-257F-03A3-1205-5CE18E66FFE7}"/>
              </a:ext>
            </a:extLst>
          </p:cNvPr>
          <p:cNvSpPr txBox="1"/>
          <p:nvPr/>
        </p:nvSpPr>
        <p:spPr>
          <a:xfrm>
            <a:off x="6286500" y="2667000"/>
            <a:ext cx="2476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 b="1">
                <a:solidFill>
                  <a:srgbClr val="EA580C"/>
                </a:solidFill>
              </a:rPr>
              <a:t>Duracao: 30 min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30A4576-6111-937F-86D2-871B1A984A60}"/>
              </a:ext>
            </a:extLst>
          </p:cNvPr>
          <p:cNvSpPr txBox="1"/>
          <p:nvPr/>
        </p:nvSpPr>
        <p:spPr>
          <a:xfrm>
            <a:off x="6350000" y="3111500"/>
            <a:ext cx="23495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Novo home para 23.26.2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Deploy Out-of-Place 23ai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Datarun no CDB/PDB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Minimizacao de downtime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Listener reconfigurado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28BB41C-3AD1-A5B7-CBDD-1A9F2A42DB2E}"/>
              </a:ext>
            </a:extLst>
          </p:cNvPr>
          <p:cNvSpPr/>
          <p:nvPr/>
        </p:nvSpPr>
        <p:spPr>
          <a:xfrm>
            <a:off x="9080500" y="1651000"/>
            <a:ext cx="2603500" cy="444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F090381-8606-BF4D-AF31-6169B67C3838}"/>
              </a:ext>
            </a:extLst>
          </p:cNvPr>
          <p:cNvSpPr txBox="1"/>
          <p:nvPr/>
        </p:nvSpPr>
        <p:spPr>
          <a:xfrm>
            <a:off x="9144000" y="1778000"/>
            <a:ext cx="24765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100" b="1">
                <a:solidFill>
                  <a:srgbClr val="64748B"/>
                </a:solidFill>
              </a:rPr>
              <a:t>ATIVIDADE 8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D224AFF-67A8-B79A-CA7F-78F7A5D927A9}"/>
              </a:ext>
            </a:extLst>
          </p:cNvPr>
          <p:cNvSpPr txBox="1"/>
          <p:nvPr/>
        </p:nvSpPr>
        <p:spPr>
          <a:xfrm>
            <a:off x="9144000" y="2095500"/>
            <a:ext cx="2476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E3A8A"/>
                </a:solidFill>
              </a:rPr>
              <a:t>Validar e Divulgar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0D7A856-7E02-B815-24FD-F09CC9779636}"/>
              </a:ext>
            </a:extLst>
          </p:cNvPr>
          <p:cNvSpPr txBox="1"/>
          <p:nvPr/>
        </p:nvSpPr>
        <p:spPr>
          <a:xfrm>
            <a:off x="9144000" y="2667000"/>
            <a:ext cx="2476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 b="1">
                <a:solidFill>
                  <a:srgbClr val="EA580C"/>
                </a:solidFill>
              </a:rPr>
              <a:t>Duracao: 15 min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2B01FD2-D365-ED3B-D47E-B18220B5B08A}"/>
              </a:ext>
            </a:extLst>
          </p:cNvPr>
          <p:cNvSpPr txBox="1"/>
          <p:nvPr/>
        </p:nvSpPr>
        <p:spPr>
          <a:xfrm>
            <a:off x="9207500" y="3111500"/>
            <a:ext cx="23495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Auditoria de instancias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Verificacao final de rede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Systemd autostartup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Relatorio consolidado</a:t>
            </a:r>
          </a:p>
          <a:p>
            <a:pPr indent="-171450">
              <a:buChar char="•"/>
            </a:pPr>
            <a:r>
              <a:rPr lang="pt-BR" sz="1100">
                <a:solidFill>
                  <a:srgbClr val="475569"/>
                </a:solidFill>
                <a:latin typeface="Segoe UI" panose="020B0502040204020203" pitchFamily="34" charset="0"/>
              </a:rPr>
              <a:t>Publicacao no LinkedIn</a:t>
            </a:r>
          </a:p>
        </p:txBody>
      </p:sp>
    </p:spTree>
    <p:extLst>
      <p:ext uri="{BB962C8B-B14F-4D97-AF65-F5344CB8AC3E}">
        <p14:creationId xmlns:p14="http://schemas.microsoft.com/office/powerpoint/2010/main" val="3105991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610CB78-F03D-AFB6-4BC0-E116C56DCF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1A8C998-B048-DDE1-45EB-E4F8011B47D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849D0F-0266-753A-F4E5-A6AE151547C3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2400" b="1">
                <a:solidFill>
                  <a:srgbClr val="1E3A8A"/>
                </a:solidFill>
                <a:latin typeface="Segoe UI" panose="020B0502040204020203" pitchFamily="34" charset="0"/>
              </a:rPr>
              <a:t>Fase 1: Preparacao do Ambiente e Inicializacao do AutoUpgrade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6C700A1-1F2F-CCFF-F37F-0A078EAAF4C0}"/>
              </a:ext>
            </a:extLst>
          </p:cNvPr>
          <p:cNvSpPr/>
          <p:nvPr/>
        </p:nvSpPr>
        <p:spPr>
          <a:xfrm>
            <a:off x="508000" y="1079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784A01-A04E-684E-CDF5-66EFCD78397A}"/>
              </a:ext>
            </a:extLst>
          </p:cNvPr>
          <p:cNvSpPr txBox="1"/>
          <p:nvPr/>
        </p:nvSpPr>
        <p:spPr>
          <a:xfrm>
            <a:off x="508000" y="6477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94A3B8"/>
                </a:solidFill>
                <a:latin typeface="Segoe UI" panose="020B0502040204020203" pitchFamily="34" charset="0"/>
              </a:rPr>
              <a:t>Imersao Oracle AutoUpgrade | Do Zero ao Multitenant 23ai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7987460-9C67-7F23-1670-C7DF8122C9B8}"/>
              </a:ext>
            </a:extLst>
          </p:cNvPr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A83A31A-9E5F-146B-80BF-0237ACB82829}"/>
              </a:ext>
            </a:extLst>
          </p:cNvPr>
          <p:cNvSpPr/>
          <p:nvPr/>
        </p:nvSpPr>
        <p:spPr>
          <a:xfrm>
            <a:off x="508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A9183D8-A036-6EE6-2EFE-6A101140BC9E}"/>
              </a:ext>
            </a:extLst>
          </p:cNvPr>
          <p:cNvSpPr txBox="1"/>
          <p:nvPr/>
        </p:nvSpPr>
        <p:spPr>
          <a:xfrm>
            <a:off x="698500" y="17145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Atividade 1: OS Prep e Instalacao 19c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F9B1E11-50C8-4C3F-7F8C-2DC6F9246DE4}"/>
              </a:ext>
            </a:extLst>
          </p:cNvPr>
          <p:cNvSpPr txBox="1"/>
          <p:nvPr/>
        </p:nvSpPr>
        <p:spPr>
          <a:xfrm>
            <a:off x="698500" y="21590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 b="1">
                <a:solidFill>
                  <a:srgbClr val="EA580C"/>
                </a:solidFill>
              </a:rPr>
              <a:t>Tempo Estimado: 60 minutos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52237C6-9EAD-9773-3CAE-0FAD11E91A00}"/>
              </a:ext>
            </a:extLst>
          </p:cNvPr>
          <p:cNvSpPr txBox="1"/>
          <p:nvPr/>
        </p:nvSpPr>
        <p:spPr>
          <a:xfrm>
            <a:off x="698500" y="2540000"/>
            <a:ext cx="4953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Instalacao do pacote oracle-database-preinstall-19c para configuracao automatica de kernel, limites e usuarios.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Criacao e montagem do volume logico LVM em /u02 para armazenamento seguro dos arquivos de dados.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Instalacao em modo silencioso do software Oracle Database 19c (19.3) utilizando a Gold Image.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Criacao do banco de dados de origem non-CDB (ORCL) atraves do DBCA silent.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Configuracao e inicializacao do Listener e scripts de inicializacao automatica pelo sistema (systemd).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A6F4970-AE49-7224-16FF-4F92668C6F68}"/>
              </a:ext>
            </a:extLst>
          </p:cNvPr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32F8DEB-5402-7603-7540-4DB425706DA4}"/>
              </a:ext>
            </a:extLst>
          </p:cNvPr>
          <p:cNvSpPr/>
          <p:nvPr/>
        </p:nvSpPr>
        <p:spPr>
          <a:xfrm>
            <a:off x="6350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E8A4D11-B113-DB0C-A5CB-D65A78DFFA83}"/>
              </a:ext>
            </a:extLst>
          </p:cNvPr>
          <p:cNvSpPr txBox="1"/>
          <p:nvPr/>
        </p:nvSpPr>
        <p:spPr>
          <a:xfrm>
            <a:off x="6540500" y="17145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Atividade 2: Download e Validacao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C40BD0D-9CE2-9AD1-50C8-2E4487DC515B}"/>
              </a:ext>
            </a:extLst>
          </p:cNvPr>
          <p:cNvSpPr txBox="1"/>
          <p:nvPr/>
        </p:nvSpPr>
        <p:spPr>
          <a:xfrm>
            <a:off x="6540500" y="21590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 b="1">
                <a:solidFill>
                  <a:srgbClr val="EA580C"/>
                </a:solidFill>
              </a:rPr>
              <a:t>Tempo Estimado: 15 minutos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984BF91-C6B2-C225-F591-7182575B5BB9}"/>
              </a:ext>
            </a:extLst>
          </p:cNvPr>
          <p:cNvSpPr txBox="1"/>
          <p:nvPr/>
        </p:nvSpPr>
        <p:spPr>
          <a:xfrm>
            <a:off x="6540500" y="2540000"/>
            <a:ext cx="4953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Download da versao mais recente e estavel do utilitario autoupgrade.jar (26.x) via wget.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Verificacao minuciosa dos patches instalados no Oracle Home 19c atraves do comando opatch lsinventory.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Criacao dinamica do arquivo de configuracao .cfg para analise do banco pelo AutoUpgrade.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Execucao do AutoUpgrade em modo de analise (autoupgrade.jar -mode analyze) apontando para a base ORCL.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Auditoria de logs e relatorios gerados para identificacao de itens impedientes a atualizacao.</a:t>
            </a:r>
          </a:p>
        </p:txBody>
      </p:sp>
    </p:spTree>
    <p:extLst>
      <p:ext uri="{BB962C8B-B14F-4D97-AF65-F5344CB8AC3E}">
        <p14:creationId xmlns:p14="http://schemas.microsoft.com/office/powerpoint/2010/main" val="289980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72ADEA-EA28-6E52-1A87-CB93DF8128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EADF8F-AD16-FF99-FE56-D11F0E92BE8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1EBB8A-D339-1646-48BE-9506B4B33BC4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2400" b="1">
                <a:solidFill>
                  <a:srgbClr val="1E3A8A"/>
                </a:solidFill>
                <a:latin typeface="Segoe UI" panose="020B0502040204020203" pitchFamily="34" charset="0"/>
              </a:rPr>
              <a:t>Fase 2: Patching Out-of-Place e Migracao do Banco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4AAF697-AB76-AD63-1D37-52BBF75A6B6F}"/>
              </a:ext>
            </a:extLst>
          </p:cNvPr>
          <p:cNvSpPr/>
          <p:nvPr/>
        </p:nvSpPr>
        <p:spPr>
          <a:xfrm>
            <a:off x="508000" y="1079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870826-004C-8752-3649-8D63CEECA6B4}"/>
              </a:ext>
            </a:extLst>
          </p:cNvPr>
          <p:cNvSpPr txBox="1"/>
          <p:nvPr/>
        </p:nvSpPr>
        <p:spPr>
          <a:xfrm>
            <a:off x="508000" y="6477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94A3B8"/>
                </a:solidFill>
                <a:latin typeface="Segoe UI" panose="020B0502040204020203" pitchFamily="34" charset="0"/>
              </a:rPr>
              <a:t>Imersao Oracle AutoUpgrade | Do Zero ao Multitenant 23ai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CC1670-B9B3-0F5C-AB17-6821795D5D00}"/>
              </a:ext>
            </a:extLst>
          </p:cNvPr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522B770-3CDF-596B-3022-6CBFCEADAB81}"/>
              </a:ext>
            </a:extLst>
          </p:cNvPr>
          <p:cNvSpPr/>
          <p:nvPr/>
        </p:nvSpPr>
        <p:spPr>
          <a:xfrm>
            <a:off x="508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D1912C8-088E-7A86-BCA4-56E1A28BA472}"/>
              </a:ext>
            </a:extLst>
          </p:cNvPr>
          <p:cNvSpPr txBox="1"/>
          <p:nvPr/>
        </p:nvSpPr>
        <p:spPr>
          <a:xfrm>
            <a:off x="698500" y="1714500"/>
            <a:ext cx="4953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Atividade 3: Provisionamento de Novo Oracle Home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27BD13-CD3C-2933-AB40-ECE5FA81EDFA}"/>
              </a:ext>
            </a:extLst>
          </p:cNvPr>
          <p:cNvSpPr txBox="1"/>
          <p:nvPr/>
        </p:nvSpPr>
        <p:spPr>
          <a:xfrm>
            <a:off x="698500" y="21590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 b="1">
                <a:solidFill>
                  <a:srgbClr val="EA580C"/>
                </a:solidFill>
              </a:rPr>
              <a:t>Tempo Estimado: 25 minutos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94E4EB-9B90-ECF6-7200-AE7A22594FDB}"/>
              </a:ext>
            </a:extLst>
          </p:cNvPr>
          <p:cNvSpPr txBox="1"/>
          <p:nvPr/>
        </p:nvSpPr>
        <p:spPr>
          <a:xfrm>
            <a:off x="698500" y="2540000"/>
            <a:ext cx="4953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Criacao fisica de um novo diretorio de destino isolado (dbhome_1_patched) na particao /u01.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Extracao silenciosa da Gold Image base do Oracle 19c no novo diretorio sem interromper a producao.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Execucao dos scripts administrativos de inventario e de rede como usuario root (root.sh e orainstRoot.sh).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Garantia de isolamento completo: o banco de dados continua operando normalmente no home original.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CDCE601-934E-5988-3BF0-428A86E030FB}"/>
              </a:ext>
            </a:extLst>
          </p:cNvPr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A1A3C14-50EE-9F42-35A9-A72B01F13965}"/>
              </a:ext>
            </a:extLst>
          </p:cNvPr>
          <p:cNvSpPr/>
          <p:nvPr/>
        </p:nvSpPr>
        <p:spPr>
          <a:xfrm>
            <a:off x="6350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1DD148E-7DD1-4A54-4E5F-02BC3AC5DAF8}"/>
              </a:ext>
            </a:extLst>
          </p:cNvPr>
          <p:cNvSpPr txBox="1"/>
          <p:nvPr/>
        </p:nvSpPr>
        <p:spPr>
          <a:xfrm>
            <a:off x="6540500" y="17145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Atividade 4: Atualizacao de RU e Deploy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C44D98C-1A1B-A774-5F6F-5A58C504B734}"/>
              </a:ext>
            </a:extLst>
          </p:cNvPr>
          <p:cNvSpPr txBox="1"/>
          <p:nvPr/>
        </p:nvSpPr>
        <p:spPr>
          <a:xfrm>
            <a:off x="6540500" y="21590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 b="1">
                <a:solidFill>
                  <a:srgbClr val="EA580C"/>
                </a:solidFill>
              </a:rPr>
              <a:t>Tempo Estimado: 40 minutos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27BFCC9-C34B-F930-8248-41B3E1DDF924}"/>
              </a:ext>
            </a:extLst>
          </p:cNvPr>
          <p:cNvSpPr txBox="1"/>
          <p:nvPr/>
        </p:nvSpPr>
        <p:spPr>
          <a:xfrm>
            <a:off x="6540500" y="2540000"/>
            <a:ext cx="4953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Atualizacao previa do utilitario OPatch no novo Oracle Home para compatibilidade com o patch.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Aplicacao silenciosa do patch de correcoes cumulativas (Release Update - RU) no novo home.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Execucao do AutoUpgrade em modo de deploy (autoupgrade.jar -mode deploy) para migrar o banco.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Orquestracao automatizada: parada do banco, chaveamento de home, datapatch no dicionario e utlrp.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Restabelecimento da base no novo home atualizado com downtime minimo controlado.</a:t>
            </a:r>
          </a:p>
        </p:txBody>
      </p:sp>
    </p:spTree>
    <p:extLst>
      <p:ext uri="{BB962C8B-B14F-4D97-AF65-F5344CB8AC3E}">
        <p14:creationId xmlns:p14="http://schemas.microsoft.com/office/powerpoint/2010/main" val="1216728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1DD7674-505C-D25D-B4ED-9E138DD545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590303-6F95-C570-5444-FC32023B4C0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5AC914-B290-B473-AAF0-7C577F19EFCB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2400" b="1">
                <a:solidFill>
                  <a:srgbClr val="1E3A8A"/>
                </a:solidFill>
                <a:latin typeface="Segoe UI" panose="020B0502040204020203" pitchFamily="34" charset="0"/>
              </a:rPr>
              <a:t>Fase 3: Conversao Multitenant e Upgrade de Versao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202BD79-51DB-2171-DE70-ACCC71EF7AC5}"/>
              </a:ext>
            </a:extLst>
          </p:cNvPr>
          <p:cNvSpPr/>
          <p:nvPr/>
        </p:nvSpPr>
        <p:spPr>
          <a:xfrm>
            <a:off x="508000" y="1079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CB9978-CDC2-F0B0-2774-51FDE8E42B89}"/>
              </a:ext>
            </a:extLst>
          </p:cNvPr>
          <p:cNvSpPr txBox="1"/>
          <p:nvPr/>
        </p:nvSpPr>
        <p:spPr>
          <a:xfrm>
            <a:off x="508000" y="6477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94A3B8"/>
                </a:solidFill>
                <a:latin typeface="Segoe UI" panose="020B0502040204020203" pitchFamily="34" charset="0"/>
              </a:rPr>
              <a:t>Imersao Oracle AutoUpgrade | Do Zero ao Multitenant 23ai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F0F7B98-41C0-29A0-EB3D-9C7F1FC0A506}"/>
              </a:ext>
            </a:extLst>
          </p:cNvPr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FF2A4D-4B41-CAFA-097A-7474D8F88522}"/>
              </a:ext>
            </a:extLst>
          </p:cNvPr>
          <p:cNvSpPr/>
          <p:nvPr/>
        </p:nvSpPr>
        <p:spPr>
          <a:xfrm>
            <a:off x="508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79DA0E-9205-0313-8A7D-E97920D27A9F}"/>
              </a:ext>
            </a:extLst>
          </p:cNvPr>
          <p:cNvSpPr txBox="1"/>
          <p:nvPr/>
        </p:nvSpPr>
        <p:spPr>
          <a:xfrm>
            <a:off x="698500" y="17145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Atividade 5: Conversao para Multitenant (PDB)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078992-291E-49B8-6135-D1BC301C1126}"/>
              </a:ext>
            </a:extLst>
          </p:cNvPr>
          <p:cNvSpPr txBox="1"/>
          <p:nvPr/>
        </p:nvSpPr>
        <p:spPr>
          <a:xfrm>
            <a:off x="698500" y="21590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 b="1">
                <a:solidFill>
                  <a:srgbClr val="EA580C"/>
                </a:solidFill>
              </a:rPr>
              <a:t>Tempo Estimado: 35 minutos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960CDB6-98E1-F999-9926-FF2CA7DEB8E9}"/>
              </a:ext>
            </a:extLst>
          </p:cNvPr>
          <p:cNvSpPr txBox="1"/>
          <p:nvPr/>
        </p:nvSpPr>
        <p:spPr>
          <a:xfrm>
            <a:off x="698500" y="2540000"/>
            <a:ext cx="4953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Criacao silenciosa de um banco de dados container vazio (CDBORCL) via DBCA no Oracle Home secundario.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Utilizacao do AutoUpgrade no modo noncdbtopdb para a migracao da arquitetura legada.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Conversao do banco de dados ORCL non-CDB para um Pluggable Database (ORCLPDB) de forma transparente.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Acoplamento (plug) da nova PDB ORCLPDB sob a estrutura container do CDBORCL.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Remocao e limpeza dos Oracle Homes antigos obsoletos visando otimizacao de espaco em disco.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32AE72D-CF46-2915-6382-7144D77283D4}"/>
              </a:ext>
            </a:extLst>
          </p:cNvPr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1AB59CE-EAD2-28BF-3B65-B3A6A9DB48D0}"/>
              </a:ext>
            </a:extLst>
          </p:cNvPr>
          <p:cNvSpPr/>
          <p:nvPr/>
        </p:nvSpPr>
        <p:spPr>
          <a:xfrm>
            <a:off x="6350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45B5AB-B0A4-B679-CA9A-3BC9258A45B7}"/>
              </a:ext>
            </a:extLst>
          </p:cNvPr>
          <p:cNvSpPr txBox="1"/>
          <p:nvPr/>
        </p:nvSpPr>
        <p:spPr>
          <a:xfrm>
            <a:off x="6540500" y="17145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Atividade 6: Upgrade de Versao para Oracle 23ai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96DD884-B0FF-E32B-C90F-D861127398E5}"/>
              </a:ext>
            </a:extLst>
          </p:cNvPr>
          <p:cNvSpPr txBox="1"/>
          <p:nvPr/>
        </p:nvSpPr>
        <p:spPr>
          <a:xfrm>
            <a:off x="6540500" y="21590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 b="1">
                <a:solidFill>
                  <a:srgbClr val="EA580C"/>
                </a:solidFill>
              </a:rPr>
              <a:t>Tempo Estimado: 50 minutos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F606B12-1F9C-5305-57CF-BA4324EFF712}"/>
              </a:ext>
            </a:extLst>
          </p:cNvPr>
          <p:cNvSpPr txBox="1"/>
          <p:nvPr/>
        </p:nvSpPr>
        <p:spPr>
          <a:xfrm>
            <a:off x="6540500" y="2540000"/>
            <a:ext cx="4953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Instalacao fisica do software Oracle Database 23ai (23.26.1) a partir de Gold Image base.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Execucao de analise previa (analyze) no banco container CDBORCL de 19c com autoupgrade.jar versao 23.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Criacao automatica de Guaranteed Restore Point para seguranca de rollback em caso de falha.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Orquestracao completa do upgrade em modo deploy: atualizacao automatica do dicionario para a versao 23ai.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Compilacao geral de objetos validando a integridade final do banco atualizado.</a:t>
            </a:r>
          </a:p>
        </p:txBody>
      </p:sp>
    </p:spTree>
    <p:extLst>
      <p:ext uri="{BB962C8B-B14F-4D97-AF65-F5344CB8AC3E}">
        <p14:creationId xmlns:p14="http://schemas.microsoft.com/office/powerpoint/2010/main" val="4269343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F60D0F1-7186-C071-A06C-975D9C2524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5105EA-AD4D-077E-1947-40E4657FB72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5960320-640A-28E7-1AA3-8DCE13FB4B07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2400" b="1">
                <a:solidFill>
                  <a:srgbClr val="1E3A8A"/>
                </a:solidFill>
                <a:latin typeface="Segoe UI" panose="020B0502040204020203" pitchFamily="34" charset="0"/>
              </a:rPr>
              <a:t>Fase 4: Manutencao no 23ai e Validacao de Resultados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04EBB0-5408-1F76-C23B-8A98E05A4722}"/>
              </a:ext>
            </a:extLst>
          </p:cNvPr>
          <p:cNvSpPr/>
          <p:nvPr/>
        </p:nvSpPr>
        <p:spPr>
          <a:xfrm>
            <a:off x="508000" y="1079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C5FC58-FFE5-A81A-DEF9-546162466C7A}"/>
              </a:ext>
            </a:extLst>
          </p:cNvPr>
          <p:cNvSpPr txBox="1"/>
          <p:nvPr/>
        </p:nvSpPr>
        <p:spPr>
          <a:xfrm>
            <a:off x="508000" y="6477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>
                <a:solidFill>
                  <a:srgbClr val="94A3B8"/>
                </a:solidFill>
                <a:latin typeface="Segoe UI" panose="020B0502040204020203" pitchFamily="34" charset="0"/>
              </a:rPr>
              <a:t>Imersao Oracle AutoUpgrade | Do Zero ao Multitenant 23ai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A899E0E-7F0F-D96D-8947-55D72795CEB4}"/>
              </a:ext>
            </a:extLst>
          </p:cNvPr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0C9C98F-6F7C-8976-5B63-DF7BB65A67DB}"/>
              </a:ext>
            </a:extLst>
          </p:cNvPr>
          <p:cNvSpPr/>
          <p:nvPr/>
        </p:nvSpPr>
        <p:spPr>
          <a:xfrm>
            <a:off x="508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C48C962-84E9-4EA2-F057-2D47D43338DD}"/>
              </a:ext>
            </a:extLst>
          </p:cNvPr>
          <p:cNvSpPr txBox="1"/>
          <p:nvPr/>
        </p:nvSpPr>
        <p:spPr>
          <a:xfrm>
            <a:off x="698500" y="17145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Atividade 7: Patching no 23ai (23.26.2)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8B2AD3F-D606-D4EE-895F-5922FF78D0EC}"/>
              </a:ext>
            </a:extLst>
          </p:cNvPr>
          <p:cNvSpPr txBox="1"/>
          <p:nvPr/>
        </p:nvSpPr>
        <p:spPr>
          <a:xfrm>
            <a:off x="698500" y="21590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 b="1">
                <a:solidFill>
                  <a:srgbClr val="EA580C"/>
                </a:solidFill>
              </a:rPr>
              <a:t>Tempo Estimado: 30 minutos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E9BFDC4-5A62-09EB-A429-6DD8EF7291BF}"/>
              </a:ext>
            </a:extLst>
          </p:cNvPr>
          <p:cNvSpPr txBox="1"/>
          <p:nvPr/>
        </p:nvSpPr>
        <p:spPr>
          <a:xfrm>
            <a:off x="698500" y="2540000"/>
            <a:ext cx="4953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Provisionamento de um novo Oracle Home de destino com a versao atualizada do RU 23.26.2.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Execucao do AutoUpgrade no modo deploy apontando a instancia CDBORCL para o novo home.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Aplicacao centralizada e transparente do datapatch correspondente no dicionario do container e de suas PDBs.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Minimizacao do tempo de indisponibilidade da aplicacao com processo Out-of-Place simplificado.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Ajuste e reconfiguracao final dos listeners no home mais recente do servidor.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D526DC9-AC50-9871-8F23-CA5176DB760E}"/>
              </a:ext>
            </a:extLst>
          </p:cNvPr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F2F24FF-42EB-C907-E493-AE2D3D061D09}"/>
              </a:ext>
            </a:extLst>
          </p:cNvPr>
          <p:cNvSpPr/>
          <p:nvPr/>
        </p:nvSpPr>
        <p:spPr>
          <a:xfrm>
            <a:off x="6350000" y="1524000"/>
            <a:ext cx="50800" cy="4572000"/>
          </a:xfrm>
          <a:prstGeom prst="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6A444FD-B112-3DB4-302E-3F8F3266F9EA}"/>
              </a:ext>
            </a:extLst>
          </p:cNvPr>
          <p:cNvSpPr txBox="1"/>
          <p:nvPr/>
        </p:nvSpPr>
        <p:spPr>
          <a:xfrm>
            <a:off x="6540500" y="17145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 b="1">
                <a:solidFill>
                  <a:srgbClr val="1E3A8A"/>
                </a:solidFill>
                <a:latin typeface="Segoe UI" panose="020B0502040204020203" pitchFamily="34" charset="0"/>
              </a:rPr>
              <a:t>Atividade 8: Verificacao Final e LinkedIn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628DC5B-8B5D-6D74-F9F5-61A43ACA8BE9}"/>
              </a:ext>
            </a:extLst>
          </p:cNvPr>
          <p:cNvSpPr txBox="1"/>
          <p:nvPr/>
        </p:nvSpPr>
        <p:spPr>
          <a:xfrm>
            <a:off x="6540500" y="21590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 b="1">
                <a:solidFill>
                  <a:srgbClr val="EA580C"/>
                </a:solidFill>
              </a:rPr>
              <a:t>Tempo Estimado: 15 minutos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3F4BCC0-05DE-EDE0-C9D7-5BB1C9CCD791}"/>
              </a:ext>
            </a:extLst>
          </p:cNvPr>
          <p:cNvSpPr txBox="1"/>
          <p:nvPr/>
        </p:nvSpPr>
        <p:spPr>
          <a:xfrm>
            <a:off x="6540500" y="2540000"/>
            <a:ext cx="4953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Execucao de testes rigorosos de conectividade local e remota nas instancias e PDBs ativas no novo home.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Auditoria de servicos do banco, listeners e configuracao de inicializacao automatica pelo systemd.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Consolidacao de logs finais do projeto e geracao do relatorio tecnico de conformidade do laboratorio.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Redacao de um resumo profissional de alto nivel tecnico-comercial descrevendo os resultados do projeto.</a:t>
            </a:r>
          </a:p>
          <a:p>
            <a:pPr indent="-171450">
              <a:buChar char="•"/>
            </a:pPr>
            <a:r>
              <a:rPr lang="pt-BR" sz="1200">
                <a:solidFill>
                  <a:srgbClr val="475569"/>
                </a:solidFill>
                <a:latin typeface="Segoe UI" panose="020B0502040204020203" pitchFamily="34" charset="0"/>
              </a:rPr>
              <a:t>Divulgacao e compartilhamento no LinkedIn para divulgacao das habilidades e networking profissional.</a:t>
            </a:r>
          </a:p>
        </p:txBody>
      </p:sp>
    </p:spTree>
    <p:extLst>
      <p:ext uri="{BB962C8B-B14F-4D97-AF65-F5344CB8AC3E}">
        <p14:creationId xmlns:p14="http://schemas.microsoft.com/office/powerpoint/2010/main" val="2307127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F88327D-BC34-9822-E272-221ABA589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F5B649D-3BD1-89F5-9AAB-FC104B8F607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70BC9F-F627-66E7-0B8F-2D5326797CB4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200" b="1">
                <a:solidFill>
                  <a:srgbClr val="FFFFFF"/>
                </a:solidFill>
                <a:latin typeface="Segoe UI" panose="020B0502040204020203" pitchFamily="34" charset="0"/>
              </a:rPr>
              <a:t>Conclusao e Proximos Passos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D8C0AC-C103-922A-5A00-F00D8BC18728}"/>
              </a:ext>
            </a:extLst>
          </p:cNvPr>
          <p:cNvSpPr txBox="1"/>
          <p:nvPr/>
        </p:nvSpPr>
        <p:spPr>
          <a:xfrm>
            <a:off x="762000" y="1143000"/>
            <a:ext cx="1066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000">
                <a:solidFill>
                  <a:srgbClr val="EA580C"/>
                </a:solidFill>
                <a:latin typeface="Segoe UI" panose="020B0502040204020203" pitchFamily="34" charset="0"/>
              </a:rPr>
              <a:t>O DBA Moderno e a Produtividade Exponencial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6072D15-8EA6-9F39-1D3B-0786AB12DB8B}"/>
              </a:ext>
            </a:extLst>
          </p:cNvPr>
          <p:cNvSpPr txBox="1"/>
          <p:nvPr/>
        </p:nvSpPr>
        <p:spPr>
          <a:xfrm>
            <a:off x="762000" y="1905000"/>
            <a:ext cx="10668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500">
                <a:solidFill>
                  <a:srgbClr val="E2E8F0"/>
                </a:solidFill>
                <a:latin typeface="Segoe UI" panose="020B0502040204020203" pitchFamily="34" charset="0"/>
              </a:rPr>
              <a:t>â€¢ Automacao Inteligente: A imersao comprova que processos complexos de ciclo de vida de bancos de dados sao simplificados e acelerados com o AutoUpgrade e o suporte de Inteligencia Artificial.</a:t>
            </a:r>
          </a:p>
          <a:p>
            <a:r>
              <a:rPr lang="pt-BR" sz="1500">
                <a:solidFill>
                  <a:srgbClr val="E2E8F0"/>
                </a:solidFill>
                <a:latin typeface="Segoe UI" panose="020B0502040204020203" pitchFamily="34" charset="0"/>
              </a:rPr>
              <a:t>â€¢ Dominio de Arquitetura: A transicao de non-CDB para Multitenant e o upgrade para 23ai colocam o profissional na vanguarda da tecnologia da Oracle.</a:t>
            </a:r>
          </a:p>
          <a:p>
            <a:r>
              <a:rPr lang="pt-BR" sz="1500">
                <a:solidFill>
                  <a:srgbClr val="E2E8F0"/>
                </a:solidFill>
                <a:latin typeface="Segoe UI" panose="020B0502040204020203" pitchFamily="34" charset="0"/>
              </a:rPr>
              <a:t>â€¢ Reducao de Riscos: A padronizacao de configuracoes e scripts fornecidos via IA minimiza significativamente falhas humanas operacionais em ambientes produtivos.</a:t>
            </a:r>
          </a:p>
          <a:p>
            <a:r>
              <a:rPr lang="pt-BR" sz="1500">
                <a:solidFill>
                  <a:srgbClr val="E2E8F0"/>
                </a:solidFill>
                <a:latin typeface="Segoe UI" panose="020B0502040204020203" pitchFamily="34" charset="0"/>
              </a:rPr>
              <a:t>â€¢ Escala na Carreira: DBAs focados em automacao se tornam arquitetos de solucoes de alta relevancia no mercado de TI atual.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317BEF-0F2F-EDF8-B4B1-CC0F4E4DD6EB}"/>
              </a:ext>
            </a:extLst>
          </p:cNvPr>
          <p:cNvSpPr txBox="1"/>
          <p:nvPr/>
        </p:nvSpPr>
        <p:spPr>
          <a:xfrm>
            <a:off x="1270000" y="4953000"/>
            <a:ext cx="965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b="1" i="1">
                <a:solidFill>
                  <a:srgbClr val="EA580C"/>
                </a:solidFill>
                <a:latin typeface="Segoe UI" panose="020B0502040204020203" pitchFamily="34" charset="0"/>
              </a:rPr>
              <a:t>"A automacao e a IA nao substituem o DBA; elas substituem o DBA que se recusa a evoluir e automatizar!"</a:t>
            </a:r>
          </a:p>
        </p:txBody>
      </p:sp>
    </p:spTree>
    <p:extLst>
      <p:ext uri="{BB962C8B-B14F-4D97-AF65-F5344CB8AC3E}">
        <p14:creationId xmlns:p14="http://schemas.microsoft.com/office/powerpoint/2010/main" val="2977121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1587</Words>
  <Application>Microsoft Office PowerPoint</Application>
  <PresentationFormat>Widescreen</PresentationFormat>
  <Paragraphs>177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Christiano Rios Ferreira</dc:creator>
  <cp:lastModifiedBy>Christiano Rios</cp:lastModifiedBy>
  <cp:revision>1</cp:revision>
  <dcterms:created xsi:type="dcterms:W3CDTF">2026-07-17T19:16:46Z</dcterms:created>
  <dcterms:modified xsi:type="dcterms:W3CDTF">2026-07-17T19:29:13Z</dcterms:modified>
</cp:coreProperties>
</file>